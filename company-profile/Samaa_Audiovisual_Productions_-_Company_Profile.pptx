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غلاف الملف التعريفي لشركة سمع للإنتاج الإعلامي المرئي والمسموع.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نبذة عن الشركة مع أبرز الأرقام: أكثر من 25 عاماً من الخبرة، 13 خدمة متخصصة، ولغتان.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شعارات بعض عملاء الشركة وشركاء النجاح.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محورا خدمات الشركة: الإنتاج الموسيقي والغنائي، والإنتاج الصوتي.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خدمات الإنتاج الموسيقي والغنائي الست.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خدمات الإنتاج الصوتي الجديدة: البودكاست، هندسة وإخراج البودكاست، الرد الآلي، تحرير الصوت، المعلقون الصوتيون، التصميم الصوتي، والتعليق الصوتي.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152" y="1593491"/>
            <a:ext cx="4279392" cy="34881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"/>
            <a:ext cx="310896" cy="4978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8A9E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713232"/>
            <a:ext cx="237744" cy="75738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54880" y="640080"/>
            <a:ext cx="6476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4800" dirty="0">
                <a:solidFill>
                  <a:srgbClr val="C2BFAF"/>
                </a:solidFill>
                <a:latin typeface="FF Taweel" pitchFamily="2" charset="-78"/>
                <a:cs typeface="FF Taweel" pitchFamily="2" charset="-78"/>
              </a:rPr>
              <a:t>من نحن</a:t>
            </a:r>
            <a:endParaRPr lang="ar-SA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3840480" y="1554480"/>
            <a:ext cx="7391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2AAFC4"/>
                </a:solidFill>
                <a:latin typeface="Almarai Bold" pitchFamily="2" charset="-78"/>
                <a:cs typeface="Almarai Bold" pitchFamily="2" charset="-78"/>
              </a:rPr>
              <a:t>سمع للإنتاج الإعلامي المرئي والمسموع</a:t>
            </a:r>
            <a:endParaRPr lang="ar-SA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5760720" y="2331720"/>
            <a:ext cx="54708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ar-SA" sz="1600" dirty="0">
                <a:solidFill>
                  <a:srgbClr val="F1EFE8"/>
                </a:solidFill>
                <a:latin typeface="Almarai Light" pitchFamily="2" charset="-78"/>
                <a:cs typeface="Almarai Light" pitchFamily="2" charset="-78"/>
              </a:rPr>
              <a:t>شركة سمع للإنتاج الإعلامي شركة متخصصة في إنتاج المحتوى الغنائي بأشكاله المتعددة، عن طريق نخبة من المتخصصين ذوي الخبرة الواسعة في المجال، وباستخدام أحدث تقنيات الإنتاج المرئي والمسموع.</a:t>
            </a:r>
            <a:endParaRPr lang="ar-SA" sz="16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ar-SA" sz="1600" dirty="0">
                <a:solidFill>
                  <a:srgbClr val="F1EFE8"/>
                </a:solidFill>
                <a:latin typeface="Almarai Light" pitchFamily="2" charset="-78"/>
                <a:cs typeface="Almarai Light" pitchFamily="2" charset="-78"/>
              </a:rPr>
              <a:t>كما نقدم خدمات الإنتاج الصوتي المحترف بخبرة تتجاوز 25 عاماً؛ من البودكاست والتعليق الصوتي، إلى التصميم الصوتي ورسائل الرد الآلي للشركات.</a:t>
            </a:r>
            <a:endParaRPr lang="ar-SA" sz="1600" dirty="0"/>
          </a:p>
        </p:txBody>
      </p:sp>
      <p:sp>
        <p:nvSpPr>
          <p:cNvPr id="9" name="Shape 4"/>
          <p:cNvSpPr/>
          <p:nvPr/>
        </p:nvSpPr>
        <p:spPr>
          <a:xfrm>
            <a:off x="8625535" y="4892040"/>
            <a:ext cx="2606040" cy="1051560"/>
          </a:xfrm>
          <a:prstGeom prst="roundRect">
            <a:avLst>
              <a:gd name="adj" fmla="val 12174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10271455" y="500176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3600" dirty="0">
                <a:solidFill>
                  <a:srgbClr val="2AAFC4"/>
                </a:solidFill>
                <a:latin typeface="Almarai ExtraBold" pitchFamily="2" charset="-78"/>
                <a:cs typeface="Almarai ExtraBold" pitchFamily="2" charset="-78"/>
              </a:rPr>
              <a:t>13</a:t>
            </a:r>
            <a:endParaRPr lang="ar-SA" sz="3600" dirty="0"/>
          </a:p>
        </p:txBody>
      </p:sp>
      <p:sp>
        <p:nvSpPr>
          <p:cNvPr id="11" name="Text 6"/>
          <p:cNvSpPr txBox="1"/>
          <p:nvPr/>
        </p:nvSpPr>
        <p:spPr>
          <a:xfrm>
            <a:off x="8808415" y="50017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خدمة إبداعية متخصصة</a:t>
            </a:r>
            <a:endParaRPr lang="ar-SA" sz="1300" dirty="0"/>
          </a:p>
        </p:txBody>
      </p:sp>
      <p:sp>
        <p:nvSpPr>
          <p:cNvPr id="12" name="Shape 7"/>
          <p:cNvSpPr/>
          <p:nvPr/>
        </p:nvSpPr>
        <p:spPr>
          <a:xfrm>
            <a:off x="5745175" y="4892040"/>
            <a:ext cx="2606040" cy="1051560"/>
          </a:xfrm>
          <a:prstGeom prst="roundRect">
            <a:avLst>
              <a:gd name="adj" fmla="val 12174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7391095" y="500176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3600" dirty="0">
                <a:solidFill>
                  <a:srgbClr val="2AAFC4"/>
                </a:solidFill>
                <a:latin typeface="Almarai ExtraBold" pitchFamily="2" charset="-78"/>
                <a:cs typeface="Almarai ExtraBold" pitchFamily="2" charset="-78"/>
              </a:rPr>
              <a:t>2</a:t>
            </a:r>
            <a:endParaRPr lang="ar-SA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5928055" y="500176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لغتان: العربية والإنجليزية</a:t>
            </a:r>
            <a:endParaRPr lang="ar-SA" sz="1300" dirty="0"/>
          </a:p>
        </p:txBody>
      </p:sp>
      <p:sp>
        <p:nvSpPr>
          <p:cNvPr id="15" name="Shape 10"/>
          <p:cNvSpPr/>
          <p:nvPr/>
        </p:nvSpPr>
        <p:spPr>
          <a:xfrm>
            <a:off x="612648" y="1344168"/>
            <a:ext cx="3895344" cy="3895344"/>
          </a:xfrm>
          <a:prstGeom prst="ellipse">
            <a:avLst/>
          </a:prstGeom>
          <a:ln w="12700">
            <a:solidFill>
              <a:srgbClr val="128A9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68680" y="1600200"/>
            <a:ext cx="3383280" cy="3383280"/>
          </a:xfrm>
          <a:prstGeom prst="ellipse">
            <a:avLst/>
          </a:prstGeom>
          <a:solidFill>
            <a:srgbClr val="662E8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22860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8000" dirty="0">
                <a:solidFill>
                  <a:srgbClr val="FFFFFF"/>
                </a:solidFill>
                <a:latin typeface="Almarai ExtraBold" pitchFamily="2" charset="-78"/>
                <a:cs typeface="Almarai ExtraBold" pitchFamily="2" charset="-78"/>
              </a:rPr>
              <a:t>+25</a:t>
            </a:r>
            <a:endParaRPr lang="ar-SA" sz="80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sz="2000" dirty="0">
                <a:solidFill>
                  <a:srgbClr val="C2BFAF"/>
                </a:solidFill>
                <a:latin typeface="Almarai Bold" pitchFamily="2" charset="-78"/>
                <a:cs typeface="Almarai Bold" pitchFamily="2" charset="-78"/>
              </a:rPr>
              <a:t>عاماً من الخبرة</a:t>
            </a:r>
            <a:endParaRPr lang="ar-SA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"/>
            <a:ext cx="310896" cy="4978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8A9E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76072"/>
            <a:ext cx="237744" cy="75738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54880" y="502920"/>
            <a:ext cx="6476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4800" dirty="0">
                <a:solidFill>
                  <a:srgbClr val="C2BFAF"/>
                </a:solidFill>
                <a:latin typeface="FF Taweel" pitchFamily="2" charset="-78"/>
                <a:cs typeface="FF Taweel" pitchFamily="2" charset="-78"/>
              </a:rPr>
              <a:t>شركاء النجاح</a:t>
            </a:r>
            <a:endParaRPr lang="ar-SA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3840480" y="1417320"/>
            <a:ext cx="7391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2AAFC4"/>
                </a:solidFill>
                <a:latin typeface="Almarai Bold" pitchFamily="2" charset="-78"/>
                <a:cs typeface="Almarai Bold" pitchFamily="2" charset="-78"/>
              </a:rPr>
              <a:t>نفخر بخدمة نخبة من أبرز العلامات التجارية</a:t>
            </a:r>
            <a:endParaRPr lang="ar-SA" sz="1500" dirty="0"/>
          </a:p>
        </p:txBody>
      </p:sp>
      <p:sp>
        <p:nvSpPr>
          <p:cNvPr id="8" name="Shape 3"/>
          <p:cNvSpPr/>
          <p:nvPr/>
        </p:nvSpPr>
        <p:spPr>
          <a:xfrm>
            <a:off x="9936328" y="21031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208" y="2299716"/>
            <a:ext cx="1325880" cy="79552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061808" y="21031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416" y="2286000"/>
            <a:ext cx="578423" cy="82296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6187288" y="21031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634" y="2286000"/>
            <a:ext cx="726948" cy="82296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4312768" y="21031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706" y="2286000"/>
            <a:ext cx="869763" cy="822960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2438248" y="21031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7627" y="2286000"/>
            <a:ext cx="652882" cy="822960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563728" y="21031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235" y="2286000"/>
            <a:ext cx="1122625" cy="822960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9936328" y="3493008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7215" y="3675888"/>
            <a:ext cx="769866" cy="822960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8061808" y="3493008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4688" y="3767461"/>
            <a:ext cx="1325880" cy="639814"/>
          </a:xfrm>
          <a:prstGeom prst="rect">
            <a:avLst/>
          </a:prstGeom>
        </p:spPr>
      </p:pic>
      <p:sp>
        <p:nvSpPr>
          <p:cNvPr id="24" name="Shape 11"/>
          <p:cNvSpPr/>
          <p:nvPr/>
        </p:nvSpPr>
        <p:spPr>
          <a:xfrm>
            <a:off x="6187288" y="3493008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010101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0440" y="3681094"/>
            <a:ext cx="1545336" cy="812548"/>
          </a:xfrm>
          <a:prstGeom prst="rect">
            <a:avLst/>
          </a:prstGeom>
        </p:spPr>
      </p:pic>
      <p:sp>
        <p:nvSpPr>
          <p:cNvPr id="26" name="Shape 12"/>
          <p:cNvSpPr/>
          <p:nvPr/>
        </p:nvSpPr>
        <p:spPr>
          <a:xfrm>
            <a:off x="4312768" y="3493008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3865" y="3675888"/>
            <a:ext cx="649444" cy="822960"/>
          </a:xfrm>
          <a:prstGeom prst="rect">
            <a:avLst/>
          </a:prstGeom>
        </p:spPr>
      </p:pic>
      <p:sp>
        <p:nvSpPr>
          <p:cNvPr id="28" name="Shape 13"/>
          <p:cNvSpPr/>
          <p:nvPr/>
        </p:nvSpPr>
        <p:spPr>
          <a:xfrm>
            <a:off x="2438248" y="3493008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21128" y="3684869"/>
            <a:ext cx="1325880" cy="804999"/>
          </a:xfrm>
          <a:prstGeom prst="rect">
            <a:avLst/>
          </a:prstGeom>
        </p:spPr>
      </p:pic>
      <p:sp>
        <p:nvSpPr>
          <p:cNvPr id="30" name="Shape 14"/>
          <p:cNvSpPr/>
          <p:nvPr/>
        </p:nvSpPr>
        <p:spPr>
          <a:xfrm>
            <a:off x="563728" y="3493008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6608" y="3694599"/>
            <a:ext cx="1325880" cy="785538"/>
          </a:xfrm>
          <a:prstGeom prst="rect">
            <a:avLst/>
          </a:prstGeom>
        </p:spPr>
      </p:pic>
      <p:sp>
        <p:nvSpPr>
          <p:cNvPr id="32" name="Shape 15"/>
          <p:cNvSpPr/>
          <p:nvPr/>
        </p:nvSpPr>
        <p:spPr>
          <a:xfrm>
            <a:off x="9936328" y="4882896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9208" y="5195154"/>
            <a:ext cx="1325880" cy="564204"/>
          </a:xfrm>
          <a:prstGeom prst="rect">
            <a:avLst/>
          </a:prstGeom>
        </p:spPr>
      </p:pic>
      <p:sp>
        <p:nvSpPr>
          <p:cNvPr id="34" name="Shape 16"/>
          <p:cNvSpPr/>
          <p:nvPr/>
        </p:nvSpPr>
        <p:spPr>
          <a:xfrm>
            <a:off x="8061808" y="4882896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44688" y="5181246"/>
            <a:ext cx="1325880" cy="592021"/>
          </a:xfrm>
          <a:prstGeom prst="rect">
            <a:avLst/>
          </a:prstGeom>
        </p:spPr>
      </p:pic>
      <p:sp>
        <p:nvSpPr>
          <p:cNvPr id="36" name="Shape 17"/>
          <p:cNvSpPr/>
          <p:nvPr/>
        </p:nvSpPr>
        <p:spPr>
          <a:xfrm>
            <a:off x="6187288" y="4882896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34343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0440" y="5319918"/>
            <a:ext cx="1545336" cy="314675"/>
          </a:xfrm>
          <a:prstGeom prst="rect">
            <a:avLst/>
          </a:prstGeom>
        </p:spPr>
      </p:pic>
      <p:sp>
        <p:nvSpPr>
          <p:cNvPr id="38" name="Shape 18"/>
          <p:cNvSpPr/>
          <p:nvPr/>
        </p:nvSpPr>
        <p:spPr>
          <a:xfrm>
            <a:off x="4312768" y="4882896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95648" y="5356033"/>
            <a:ext cx="1325880" cy="242447"/>
          </a:xfrm>
          <a:prstGeom prst="rect">
            <a:avLst/>
          </a:prstGeom>
        </p:spPr>
      </p:pic>
      <p:sp>
        <p:nvSpPr>
          <p:cNvPr id="40" name="Shape 19"/>
          <p:cNvSpPr/>
          <p:nvPr/>
        </p:nvSpPr>
        <p:spPr>
          <a:xfrm>
            <a:off x="2438248" y="4882896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21128" y="5194086"/>
            <a:ext cx="1325880" cy="566340"/>
          </a:xfrm>
          <a:prstGeom prst="rect">
            <a:avLst/>
          </a:prstGeom>
        </p:spPr>
      </p:pic>
      <p:sp>
        <p:nvSpPr>
          <p:cNvPr id="42" name="Shape 20"/>
          <p:cNvSpPr/>
          <p:nvPr/>
        </p:nvSpPr>
        <p:spPr>
          <a:xfrm>
            <a:off x="563728" y="4882896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6608" y="5154806"/>
            <a:ext cx="1325880" cy="644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"/>
            <a:ext cx="310896" cy="4978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8A9E"/>
          </a:solidFill>
          <a:ln/>
        </p:spPr>
      </p:sp>
      <p:sp>
        <p:nvSpPr>
          <p:cNvPr id="5" name="Text 1"/>
          <p:cNvSpPr txBox="1"/>
          <p:nvPr/>
        </p:nvSpPr>
        <p:spPr>
          <a:xfrm>
            <a:off x="1828800" y="777240"/>
            <a:ext cx="8534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7200" dirty="0">
                <a:solidFill>
                  <a:srgbClr val="C2BFAF"/>
                </a:solidFill>
                <a:latin typeface="FF Taweel" pitchFamily="2" charset="-78"/>
                <a:cs typeface="FF Taweel" pitchFamily="2" charset="-78"/>
              </a:rPr>
              <a:t>خدماتنا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1828800" y="210312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800" dirty="0">
                <a:solidFill>
                  <a:srgbClr val="2AAFC4"/>
                </a:solidFill>
                <a:latin typeface="Almarai Bold" pitchFamily="2" charset="-78"/>
                <a:cs typeface="Almarai Bold" pitchFamily="2" charset="-78"/>
              </a:rPr>
              <a:t>حلول إبداعية متكاملة في الإنتاج الموسيقي والصوتي</a:t>
            </a:r>
            <a:endParaRPr lang="ar-SA" sz="1800" dirty="0"/>
          </a:p>
        </p:txBody>
      </p:sp>
      <p:sp>
        <p:nvSpPr>
          <p:cNvPr id="7" name="Shape 3"/>
          <p:cNvSpPr/>
          <p:nvPr/>
        </p:nvSpPr>
        <p:spPr>
          <a:xfrm>
            <a:off x="6324448" y="3154680"/>
            <a:ext cx="4572000" cy="2514600"/>
          </a:xfrm>
          <a:prstGeom prst="roundRect">
            <a:avLst>
              <a:gd name="adj" fmla="val 5091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9707728" y="3474720"/>
            <a:ext cx="868680" cy="868680"/>
          </a:xfrm>
          <a:prstGeom prst="ellipse">
            <a:avLst/>
          </a:prstGeom>
          <a:solidFill>
            <a:srgbClr val="662E8F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898" y="3691890"/>
            <a:ext cx="434340" cy="4343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44488" y="34747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4000" dirty="0">
                <a:solidFill>
                  <a:srgbClr val="4F6370"/>
                </a:solidFill>
                <a:latin typeface="Almarai ExtraBold" pitchFamily="2" charset="-78"/>
                <a:cs typeface="Almarai ExtraBold" pitchFamily="2" charset="-78"/>
              </a:rPr>
              <a:t>01</a:t>
            </a:r>
            <a:endParaRPr lang="ar-SA" sz="4000" dirty="0"/>
          </a:p>
        </p:txBody>
      </p:sp>
      <p:sp>
        <p:nvSpPr>
          <p:cNvPr id="11" name="Text 6"/>
          <p:cNvSpPr txBox="1"/>
          <p:nvPr/>
        </p:nvSpPr>
        <p:spPr>
          <a:xfrm>
            <a:off x="6644488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الإنتاج الموسيقي والغنائي</a:t>
            </a:r>
            <a:endParaRPr lang="ar-SA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6644488" y="4937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sz="120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كتابة الكلمات • تأليف الألحان • التوزيع الموسيقي • التسجيل • الأغاني الدعائية • الألبومات</a:t>
            </a:r>
            <a:endParaRPr lang="ar-SA" sz="1200" dirty="0"/>
          </a:p>
        </p:txBody>
      </p:sp>
      <p:sp>
        <p:nvSpPr>
          <p:cNvPr id="13" name="Shape 8"/>
          <p:cNvSpPr/>
          <p:nvPr/>
        </p:nvSpPr>
        <p:spPr>
          <a:xfrm>
            <a:off x="1295248" y="3154680"/>
            <a:ext cx="4572000" cy="2514600"/>
          </a:xfrm>
          <a:prstGeom prst="roundRect">
            <a:avLst>
              <a:gd name="adj" fmla="val 5091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678528" y="3474720"/>
            <a:ext cx="868680" cy="868680"/>
          </a:xfrm>
          <a:prstGeom prst="ellipse">
            <a:avLst/>
          </a:prstGeom>
          <a:solidFill>
            <a:srgbClr val="662E8F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698" y="3691890"/>
            <a:ext cx="434340" cy="4343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15288" y="34747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sz="4000" dirty="0">
                <a:solidFill>
                  <a:srgbClr val="4F6370"/>
                </a:solidFill>
                <a:latin typeface="Almarai ExtraBold" pitchFamily="2" charset="-78"/>
                <a:cs typeface="Almarai ExtraBold" pitchFamily="2" charset="-78"/>
              </a:rPr>
              <a:t>02</a:t>
            </a:r>
            <a:endParaRPr lang="ar-SA" sz="4000" dirty="0"/>
          </a:p>
        </p:txBody>
      </p:sp>
      <p:sp>
        <p:nvSpPr>
          <p:cNvPr id="17" name="Text 11"/>
          <p:cNvSpPr txBox="1"/>
          <p:nvPr/>
        </p:nvSpPr>
        <p:spPr>
          <a:xfrm>
            <a:off x="1615288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20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الإنتاج الصوتي</a:t>
            </a:r>
            <a:endParaRPr lang="ar-SA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615288" y="4937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sz="120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البودكاست • الرد الآلي • المعلقون الصوتيون • تحرير الصوت • التصميم الصوتي • التعليق الصوتي</a:t>
            </a:r>
            <a:endParaRPr lang="ar-SA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6032"/>
            <a:ext cx="310896" cy="4978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8A9E"/>
          </a:solidFill>
          <a:ln/>
        </p:spPr>
      </p:sp>
      <p:sp>
        <p:nvSpPr>
          <p:cNvPr id="4" name="Shape 1"/>
          <p:cNvSpPr/>
          <p:nvPr/>
        </p:nvSpPr>
        <p:spPr>
          <a:xfrm>
            <a:off x="8183880" y="777240"/>
            <a:ext cx="5120640" cy="5120640"/>
          </a:xfrm>
          <a:prstGeom prst="ellipse">
            <a:avLst/>
          </a:prstGeom>
          <a:ln w="12700">
            <a:solidFill>
              <a:srgbClr val="128A9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1051560"/>
            <a:ext cx="4572000" cy="4572000"/>
          </a:xfrm>
          <a:prstGeom prst="ellipse">
            <a:avLst/>
          </a:prstGeom>
          <a:solidFill>
            <a:srgbClr val="662E8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78240" y="228600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6000" dirty="0">
                <a:solidFill>
                  <a:srgbClr val="C2BFAF"/>
                </a:solidFill>
                <a:latin typeface="FF Taweel" pitchFamily="2" charset="-78"/>
                <a:cs typeface="FF Taweel" pitchFamily="2" charset="-78"/>
              </a:rPr>
              <a:t>خدماتنا</a:t>
            </a:r>
            <a:endParaRPr lang="ar-SA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47472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700" dirty="0">
                <a:solidFill>
                  <a:srgbClr val="FFFFFF"/>
                </a:solidFill>
                <a:latin typeface="Almarai Bold" pitchFamily="2" charset="-78"/>
                <a:cs typeface="Almarai Bold" pitchFamily="2" charset="-78"/>
              </a:rPr>
              <a:t>الإنتاج الموسيقي والغنائي</a:t>
            </a:r>
            <a:endParaRPr lang="ar-SA" sz="1700" dirty="0"/>
          </a:p>
        </p:txBody>
      </p:sp>
      <p:sp>
        <p:nvSpPr>
          <p:cNvPr id="8" name="Shape 5"/>
          <p:cNvSpPr/>
          <p:nvPr/>
        </p:nvSpPr>
        <p:spPr>
          <a:xfrm>
            <a:off x="7315200" y="914400"/>
            <a:ext cx="731520" cy="731520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097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3484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كتابة الكلمات</a:t>
            </a:r>
            <a:endParaRPr lang="ar-SA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1417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sz="120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شبكة واسعة من الشعراء والكتّاب ذوي الخبرة في كتابة الكلمات الغنائية والشعر العربي، بإبداع وسرعة في الإنجاز.</a:t>
            </a:r>
            <a:endParaRPr lang="ar-SA" sz="1200" dirty="0"/>
          </a:p>
        </p:txBody>
      </p:sp>
      <p:sp>
        <p:nvSpPr>
          <p:cNvPr id="12" name="Shape 8"/>
          <p:cNvSpPr/>
          <p:nvPr/>
        </p:nvSpPr>
        <p:spPr>
          <a:xfrm>
            <a:off x="3383280" y="914400"/>
            <a:ext cx="731520" cy="731520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097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292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تأليف الألحان</a:t>
            </a:r>
            <a:endParaRPr lang="ar-SA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02920" y="1417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sz="120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من أكثر خدماتنا تميزاً؛ ألحان شرقية وغربية على أيدي ملحنين محترفين عاشقين للفن بكل أنواعه وتفاصيله.</a:t>
            </a:r>
            <a:endParaRPr lang="ar-SA" sz="1200" dirty="0"/>
          </a:p>
        </p:txBody>
      </p:sp>
      <p:sp>
        <p:nvSpPr>
          <p:cNvPr id="16" name="Shape 11"/>
          <p:cNvSpPr/>
          <p:nvPr/>
        </p:nvSpPr>
        <p:spPr>
          <a:xfrm>
            <a:off x="7315200" y="2743200"/>
            <a:ext cx="731520" cy="731520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43484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التوزيع الموسيقي</a:t>
            </a:r>
            <a:endParaRPr lang="ar-SA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4434840" y="32461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sz="120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الورقة الرابحة لعملائنا دوماً؛ توزيع موسيقي دقيق وعلى مستوى فني احترافي عالٍ في استديوهات سمع.</a:t>
            </a:r>
            <a:endParaRPr lang="ar-SA" sz="1200" dirty="0"/>
          </a:p>
        </p:txBody>
      </p:sp>
      <p:sp>
        <p:nvSpPr>
          <p:cNvPr id="20" name="Shape 14"/>
          <p:cNvSpPr/>
          <p:nvPr/>
        </p:nvSpPr>
        <p:spPr>
          <a:xfrm>
            <a:off x="3383280" y="2743200"/>
            <a:ext cx="731520" cy="731520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260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0292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التسجيل</a:t>
            </a:r>
            <a:endParaRPr lang="ar-SA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502920" y="32461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sz="120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خدمات التسجيل بجميع أنواعها: أغانٍ دعائية، ألبومات، فويس أوفر، والعديد من الخدمات الأخرى.</a:t>
            </a:r>
            <a:endParaRPr lang="ar-SA" sz="1200" dirty="0"/>
          </a:p>
        </p:txBody>
      </p:sp>
      <p:sp>
        <p:nvSpPr>
          <p:cNvPr id="24" name="Shape 17"/>
          <p:cNvSpPr/>
          <p:nvPr/>
        </p:nvSpPr>
        <p:spPr>
          <a:xfrm>
            <a:off x="7315200" y="4572000"/>
            <a:ext cx="731520" cy="731520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47548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434840" y="4617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أغانٍ دعائية</a:t>
            </a:r>
            <a:endParaRPr lang="ar-SA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4434840" y="50749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sz="120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صناعة المحتوى الغنائي الدعائي للشركات والجهات المعلنة لتحقيق أفضل النتائج التسويقية.</a:t>
            </a:r>
            <a:endParaRPr lang="ar-SA" sz="1200" dirty="0"/>
          </a:p>
        </p:txBody>
      </p:sp>
      <p:sp>
        <p:nvSpPr>
          <p:cNvPr id="28" name="Shape 20"/>
          <p:cNvSpPr/>
          <p:nvPr/>
        </p:nvSpPr>
        <p:spPr>
          <a:xfrm>
            <a:off x="3383280" y="4572000"/>
            <a:ext cx="731520" cy="731520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75488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02920" y="4617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أغاني الألبومات</a:t>
            </a:r>
            <a:endParaRPr lang="ar-SA" sz="1700" dirty="0"/>
          </a:p>
        </p:txBody>
      </p:sp>
      <p:sp>
        <p:nvSpPr>
          <p:cNvPr id="31" name="Text 22"/>
          <p:cNvSpPr txBox="1"/>
          <p:nvPr/>
        </p:nvSpPr>
        <p:spPr>
          <a:xfrm>
            <a:off x="502920" y="50749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sz="120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منظومة متكاملة لإنتاج ألبومات مطربي الصف الأول في الخليج والعالم العربي، ودعم الفنانين الصاعدين.</a:t>
            </a:r>
            <a:endParaRPr lang="ar-SA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"/>
            <a:ext cx="310896" cy="4978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8A9E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76072"/>
            <a:ext cx="237744" cy="75738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54880" y="502920"/>
            <a:ext cx="6476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4800" dirty="0">
                <a:solidFill>
                  <a:srgbClr val="C2BFAF"/>
                </a:solidFill>
                <a:latin typeface="FF Taweel" pitchFamily="2" charset="-78"/>
                <a:cs typeface="FF Taweel" pitchFamily="2" charset="-78"/>
              </a:rPr>
              <a:t>الإنتاج الصوتي</a:t>
            </a:r>
            <a:endParaRPr lang="ar-SA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3840480" y="1417320"/>
            <a:ext cx="7391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500" dirty="0">
                <a:solidFill>
                  <a:srgbClr val="2AAFC4"/>
                </a:solidFill>
                <a:latin typeface="Almarai Bold" pitchFamily="2" charset="-78"/>
                <a:cs typeface="Almarai Bold" pitchFamily="2" charset="-78"/>
              </a:rPr>
              <a:t>خدمات إنتاج صوتي احترافية بخبرة تتجاوز 25 عاماً</a:t>
            </a:r>
            <a:endParaRPr lang="ar-SA" sz="1500" dirty="0"/>
          </a:p>
        </p:txBody>
      </p:sp>
      <p:sp>
        <p:nvSpPr>
          <p:cNvPr id="8" name="Shape 3"/>
          <p:cNvSpPr/>
          <p:nvPr/>
        </p:nvSpPr>
        <p:spPr>
          <a:xfrm>
            <a:off x="9072220" y="192024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662E8F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9300820" y="21945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sz="5400" dirty="0">
                <a:solidFill>
                  <a:srgbClr val="FFFFFF"/>
                </a:solidFill>
                <a:latin typeface="Almarai ExtraBold" pitchFamily="2" charset="-78"/>
                <a:cs typeface="Almarai ExtraBold" pitchFamily="2" charset="-78"/>
              </a:rPr>
              <a:t>+25</a:t>
            </a:r>
            <a:endParaRPr lang="ar-SA" sz="5400" dirty="0"/>
          </a:p>
        </p:txBody>
      </p:sp>
      <p:sp>
        <p:nvSpPr>
          <p:cNvPr id="10" name="Text 5"/>
          <p:cNvSpPr txBox="1"/>
          <p:nvPr/>
        </p:nvSpPr>
        <p:spPr>
          <a:xfrm>
            <a:off x="9300820" y="31089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700" dirty="0">
                <a:solidFill>
                  <a:srgbClr val="FFFFFF"/>
                </a:solidFill>
                <a:latin typeface="Almarai Bold" pitchFamily="2" charset="-78"/>
                <a:cs typeface="Almarai Bold" pitchFamily="2" charset="-78"/>
              </a:rPr>
              <a:t>عاماً من الخبرة</a:t>
            </a:r>
            <a:endParaRPr lang="ar-SA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9300820" y="347472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sz="1200" dirty="0">
                <a:solidFill>
                  <a:srgbClr val="E4D6EE"/>
                </a:solidFill>
                <a:latin typeface="Almarai Light" pitchFamily="2" charset="-78"/>
                <a:cs typeface="Almarai Light" pitchFamily="2" charset="-78"/>
              </a:rPr>
              <a:t>في الإنتاج الصوتي المحترف</a:t>
            </a:r>
            <a:endParaRPr lang="ar-SA" sz="1200" dirty="0"/>
          </a:p>
        </p:txBody>
      </p:sp>
      <p:sp>
        <p:nvSpPr>
          <p:cNvPr id="12" name="Shape 7"/>
          <p:cNvSpPr/>
          <p:nvPr/>
        </p:nvSpPr>
        <p:spPr>
          <a:xfrm>
            <a:off x="6210148" y="192024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956652" y="2148840"/>
            <a:ext cx="658368" cy="658368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244" y="2313432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38748" y="289864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إنتاج البودكاست الصوتي</a:t>
            </a:r>
            <a:endParaRPr lang="ar-SA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438748" y="340156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sz="105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إنتاج متكامل لحلقات البودكاست باحترافية حتى النسخة النهائية الجاهزة للنشر.</a:t>
            </a:r>
            <a:endParaRPr lang="ar-SA" sz="1050" dirty="0"/>
          </a:p>
        </p:txBody>
      </p:sp>
      <p:sp>
        <p:nvSpPr>
          <p:cNvPr id="17" name="Shape 11"/>
          <p:cNvSpPr/>
          <p:nvPr/>
        </p:nvSpPr>
        <p:spPr>
          <a:xfrm>
            <a:off x="3348076" y="192024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094580" y="2148840"/>
            <a:ext cx="658368" cy="658368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172" y="2313432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576676" y="289864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هندسة وإخراج البودكاست</a:t>
            </a:r>
            <a:endParaRPr lang="ar-SA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3576676" y="340156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sz="105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للبودكاست المسجَّل من طرفكم: هندسة صوتية وإخراج فني بجودة احترافية.</a:t>
            </a:r>
            <a:endParaRPr lang="ar-SA" sz="1050" dirty="0"/>
          </a:p>
        </p:txBody>
      </p:sp>
      <p:sp>
        <p:nvSpPr>
          <p:cNvPr id="22" name="Shape 15"/>
          <p:cNvSpPr/>
          <p:nvPr/>
        </p:nvSpPr>
        <p:spPr>
          <a:xfrm>
            <a:off x="486004" y="192024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232508" y="2148840"/>
            <a:ext cx="658368" cy="658368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100" y="2313432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4604" y="289864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رسائل الرد الآلي للشركات</a:t>
            </a:r>
            <a:endParaRPr lang="ar-SA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714604" y="340156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sz="105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رسائل ترحيب وقوائم رد آلي بأصوات احترافية تعكس هوية شركتكم.</a:t>
            </a:r>
            <a:endParaRPr lang="ar-SA" sz="1050" dirty="0"/>
          </a:p>
        </p:txBody>
      </p:sp>
      <p:sp>
        <p:nvSpPr>
          <p:cNvPr id="27" name="Shape 19"/>
          <p:cNvSpPr/>
          <p:nvPr/>
        </p:nvSpPr>
        <p:spPr>
          <a:xfrm>
            <a:off x="9072220" y="425196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10818724" y="4480560"/>
            <a:ext cx="658368" cy="658368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3316" y="4645152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300820" y="52303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تحرير الصوت للمعلقين الصوتيين</a:t>
            </a:r>
            <a:endParaRPr lang="ar-SA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9300820" y="573328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sz="105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تنقية وتحرير ومعالجة تسجيلات المعلقين لتسليمها بجودة عالية.</a:t>
            </a:r>
            <a:endParaRPr lang="ar-SA" sz="1050" dirty="0"/>
          </a:p>
        </p:txBody>
      </p:sp>
      <p:sp>
        <p:nvSpPr>
          <p:cNvPr id="32" name="Shape 23"/>
          <p:cNvSpPr/>
          <p:nvPr/>
        </p:nvSpPr>
        <p:spPr>
          <a:xfrm>
            <a:off x="6210148" y="425196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956652" y="4480560"/>
            <a:ext cx="658368" cy="658368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1244" y="4645152"/>
            <a:ext cx="329184" cy="32918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438748" y="52303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توفير معلقين صوتيين</a:t>
            </a:r>
            <a:endParaRPr lang="ar-SA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6438748" y="573328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sz="105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معلقون ومعلقات باللغتين العربية والإنجليزية لتناسب كل مشروع.</a:t>
            </a:r>
            <a:endParaRPr lang="ar-SA" sz="1050" dirty="0"/>
          </a:p>
        </p:txBody>
      </p:sp>
      <p:sp>
        <p:nvSpPr>
          <p:cNvPr id="37" name="Shape 27"/>
          <p:cNvSpPr/>
          <p:nvPr/>
        </p:nvSpPr>
        <p:spPr>
          <a:xfrm>
            <a:off x="3348076" y="425196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094580" y="4480560"/>
            <a:ext cx="658368" cy="658368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9172" y="4645152"/>
            <a:ext cx="329184" cy="329184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3576676" y="52303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التصميم الصوتي لمقاطع الفيديو</a:t>
            </a:r>
            <a:endParaRPr lang="ar-SA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3576676" y="573328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sz="105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مؤثرات وموسيقى ومكساج يمنح مقاطع الفيديو حضوراً وتأثيراً أقوى.</a:t>
            </a:r>
            <a:endParaRPr lang="ar-SA" sz="1050" dirty="0"/>
          </a:p>
        </p:txBody>
      </p:sp>
      <p:sp>
        <p:nvSpPr>
          <p:cNvPr id="42" name="Shape 31"/>
          <p:cNvSpPr/>
          <p:nvPr/>
        </p:nvSpPr>
        <p:spPr>
          <a:xfrm>
            <a:off x="486004" y="425196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26333E"/>
          </a:solidFill>
          <a:ln w="9525">
            <a:solidFill>
              <a:srgbClr val="364752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2232508" y="4480560"/>
            <a:ext cx="658368" cy="658368"/>
          </a:xfrm>
          <a:prstGeom prst="ellipse">
            <a:avLst/>
          </a:prstGeom>
          <a:solidFill>
            <a:srgbClr val="1E2831"/>
          </a:solidFill>
          <a:ln w="19050">
            <a:solidFill>
              <a:srgbClr val="128A9E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7100" y="4645152"/>
            <a:ext cx="329184" cy="329184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714604" y="52303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ar-SA" sz="1300" dirty="0">
                <a:solidFill>
                  <a:srgbClr val="F1EFE8"/>
                </a:solidFill>
                <a:latin typeface="Almarai Bold" pitchFamily="2" charset="-78"/>
                <a:cs typeface="Almarai Bold" pitchFamily="2" charset="-78"/>
              </a:rPr>
              <a:t>التعليق الصوتي للأفلام الوثائقية والموشن جرافيك</a:t>
            </a:r>
            <a:endParaRPr lang="ar-SA" sz="1300" dirty="0"/>
          </a:p>
        </p:txBody>
      </p:sp>
      <p:sp>
        <p:nvSpPr>
          <p:cNvPr id="46" name="Text 34"/>
          <p:cNvSpPr txBox="1"/>
          <p:nvPr/>
        </p:nvSpPr>
        <p:spPr>
          <a:xfrm>
            <a:off x="714604" y="573328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sz="1050" dirty="0">
                <a:solidFill>
                  <a:srgbClr val="B9C1C7"/>
                </a:solidFill>
                <a:latin typeface="Almarai Light" pitchFamily="2" charset="-78"/>
                <a:cs typeface="Almarai Light" pitchFamily="2" charset="-78"/>
              </a:rPr>
              <a:t>تعليق صوتي احترافي ينقل رسالتكم بوضوح وإحساس.</a:t>
            </a:r>
            <a:endParaRPr lang="ar-SA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"/>
            <a:ext cx="310896" cy="4978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28A9E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788" y="1097280"/>
            <a:ext cx="960120" cy="153742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2286000" y="2880360"/>
            <a:ext cx="7619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8000" dirty="0">
                <a:solidFill>
                  <a:srgbClr val="C2BFAF"/>
                </a:solidFill>
                <a:latin typeface="FF Taweel" pitchFamily="2" charset="-78"/>
                <a:cs typeface="FF Taweel" pitchFamily="2" charset="-78"/>
              </a:rPr>
              <a:t>شكراً لكم</a:t>
            </a:r>
            <a:endParaRPr lang="ar-SA" sz="8000" dirty="0"/>
          </a:p>
        </p:txBody>
      </p:sp>
      <p:sp>
        <p:nvSpPr>
          <p:cNvPr id="7" name="Text 2"/>
          <p:cNvSpPr txBox="1"/>
          <p:nvPr/>
        </p:nvSpPr>
        <p:spPr>
          <a:xfrm>
            <a:off x="2286000" y="434340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sz="1800" dirty="0">
                <a:solidFill>
                  <a:srgbClr val="2AAFC4"/>
                </a:solidFill>
                <a:latin typeface="Almarai Bold" pitchFamily="2" charset="-78"/>
                <a:cs typeface="Almarai Bold" pitchFamily="2" charset="-78"/>
              </a:rPr>
              <a:t>سمع للإنتاج الإعلامي المرئي والمسموع</a:t>
            </a:r>
            <a:endParaRPr lang="ar-SA" sz="18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017520"/>
            <a:ext cx="237744" cy="757388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377440"/>
            <a:ext cx="237744" cy="7573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lmarai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lmara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Sama'a Audiovisual Productions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سمع للإنتاج الإعلامي - الملف التعريفي</dc:title>
  <dc:subject>PptxGenJS Presentation</dc:subject>
  <dc:creator>PptxGenJS</dc:creator>
  <cp:lastModifiedBy>PptxGenJS</cp:lastModifiedBy>
  <cp:revision>1</cp:revision>
  <dcterms:created xsi:type="dcterms:W3CDTF">2026-09-29T15:27:59Z</dcterms:created>
  <dcterms:modified xsi:type="dcterms:W3CDTF">2026-09-29T15:27:59Z</dcterms:modified>
</cp:coreProperties>
</file>